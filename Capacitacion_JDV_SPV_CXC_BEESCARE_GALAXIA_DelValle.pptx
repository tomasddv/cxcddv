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 type="wide"/>
  <p:notesSz cx="6858000" cy="9144000"/>
  <p:defaultTextStyle>
    <a:defPPr>
      <a:defRPr lang="es-AR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Master" Target="slideMasters/slideMaster1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viewProps" Target="viewProps.xml"/><Relationship Id="rId28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Capacitación JDV y SPV – Gestión CXC / BEESCARE</a:t>
            </a:r>
          </a:p>
        </p:txBody>
      </p:sp>
      <p:sp>
        <p:nvSpPr>
          <p:cNvPr id="13001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Manual GALAXIA – Nivel 1</a:t>
            </a:r>
          </a:p>
        </p:txBody>
      </p:sp>
      <p:sp>
        <p:nvSpPr>
          <p:cNvPr id="18201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Período analizado: enero a abril 2026</a:t>
            </a:r>
          </a:p>
        </p:txBody>
      </p:sp>
      <p:sp>
        <p:nvSpPr>
          <p:cNvPr id="23401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Distribuidora del Valle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Objetivo de la capacitación</a:t>
            </a:r>
          </a:p>
        </p:txBody>
      </p:sp>
      <p:sp>
        <p:nvSpPr>
          <p:cNvPr id="13002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Conocer rol CXC e indicadores principales</a:t>
            </a:r>
          </a:p>
        </p:txBody>
      </p:sp>
      <p:sp>
        <p:nvSpPr>
          <p:cNvPr id="18202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Identificar reclamos que entran/no entran en seguimiento</a:t>
            </a:r>
          </a:p>
        </p:txBody>
      </p:sp>
      <p:sp>
        <p:nvSpPr>
          <p:cNvPr id="23402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Analizar clientes críticos y tickets en riesgo</a:t>
            </a:r>
          </a:p>
        </p:txBody>
      </p:sp>
      <p:sp>
        <p:nvSpPr>
          <p:cNvPr id="28602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Generar planes de acción mensuales</a:t>
            </a:r>
          </a:p>
        </p:txBody>
      </p:sp>
      <p:sp>
        <p:nvSpPr>
          <p:cNvPr id="33802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Evidencia para cumplimiento Nivel 1 –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¿Qué es CXC?</a:t>
            </a:r>
          </a:p>
        </p:txBody>
      </p:sp>
      <p:sp>
        <p:nvSpPr>
          <p:cNvPr id="13003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Customer Experience Center: área que gestiona reclamos, tickets, incidencias y puntos de dolor del cliente.</a:t>
            </a:r>
          </a:p>
        </p:txBody>
      </p:sp>
      <p:sp>
        <p:nvSpPr>
          <p:cNvPr id="18203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Su gestión conecta operación, comercial, administración y soporte BEESCARE para cerrar la causa del reclamo.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¿Qué es un ticket?</a:t>
            </a:r>
          </a:p>
        </p:txBody>
      </p:sp>
      <p:sp>
        <p:nvSpPr>
          <p:cNvPr id="13004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Un ticket es el contacto CXC levantado por un cliente.</a:t>
            </a:r>
          </a:p>
        </p:txBody>
      </p:sp>
      <p:sp>
        <p:nvSpPr>
          <p:cNvPr id="18204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Para esta capacitación, Contacto CXC = cliente que generó al menos un ticket.</a:t>
            </a:r>
          </a:p>
        </p:txBody>
      </p:sp>
      <p:sp>
        <p:nvSpPr>
          <p:cNvPr id="23404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Adopción CXC = clientes compradores con al menos un contacto CXC.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Indicadores principales</a:t>
            </a:r>
          </a:p>
        </p:txBody>
      </p:sp>
      <p:sp>
        <p:nvSpPr>
          <p:cNvPr id="13005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Total tickets anual: 163</a:t>
            </a:r>
          </a:p>
        </p:txBody>
      </p:sp>
      <p:sp>
        <p:nvSpPr>
          <p:cNvPr id="18205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ON TIME acumulado: 83,2 %</a:t>
            </a:r>
          </a:p>
        </p:txBody>
      </p:sp>
      <p:sp>
        <p:nvSpPr>
          <p:cNvPr id="23405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Tickets dentro SLA: 134</a:t>
            </a:r>
          </a:p>
        </p:txBody>
      </p:sp>
      <p:sp>
        <p:nvSpPr>
          <p:cNvPr id="28605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Tickets fuera SLA: 27</a:t>
            </a:r>
          </a:p>
        </p:txBody>
      </p:sp>
      <p:sp>
        <p:nvSpPr>
          <p:cNvPr id="33805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Pendientes vencidos: 0</a:t>
            </a:r>
          </a:p>
        </p:txBody>
      </p:sp>
      <p:sp>
        <p:nvSpPr>
          <p:cNvPr id="3900500" name="Text"/>
          <p:cNvSpPr/>
          <p:nvPr/>
        </p:nvSpPr>
        <p:spPr>
          <a:xfrm>
            <a:off x="800000" y="3900000"/>
            <a:ext cx="10500000" cy="420000"/>
          </a:xfrm>
        </p:spPr>
        <p:txBody>
          <a:bodyPr/>
          <a:lstStyle/>
          <a:p>
            <a:r>
              <a:rPr lang="es-AR" sz="2200"/>
              <a:t>Pendientes sin actividad +10 días: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ON TIME</a:t>
            </a:r>
          </a:p>
        </p:txBody>
      </p:sp>
      <p:sp>
        <p:nvSpPr>
          <p:cNvPr id="13006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Fórmula: tickets cerrados dentro SLA / tickets cerrados totales</a:t>
            </a:r>
          </a:p>
        </p:txBody>
      </p:sp>
      <p:sp>
        <p:nvSpPr>
          <p:cNvPr id="18206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Promedio anual ON TIME mensual: 87,3 %</a:t>
            </a:r>
          </a:p>
        </p:txBody>
      </p:sp>
      <p:sp>
        <p:nvSpPr>
          <p:cNvPr id="23406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Mejor mes: 2026-05</a:t>
            </a:r>
          </a:p>
        </p:txBody>
      </p:sp>
      <p:sp>
        <p:nvSpPr>
          <p:cNvPr id="28606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Peor mes: 2026-02</a:t>
            </a:r>
          </a:p>
        </p:txBody>
      </p:sp>
      <p:pic>
        <p:nvPicPr>
          <p:cNvPr id="9006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Adopción CXC mensual</a:t>
            </a:r>
          </a:p>
        </p:txBody>
      </p:sp>
      <p:sp>
        <p:nvSpPr>
          <p:cNvPr id="13007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Definición operativa: clientes con al menos un contacto CXC / cartera de clientes disponible.</a:t>
            </a:r>
          </a:p>
        </p:txBody>
      </p:sp>
      <p:sp>
        <p:nvSpPr>
          <p:cNvPr id="18207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Denominador usado: 2156 clientes de plantillaClientesAR.xlsx.</a:t>
            </a:r>
          </a:p>
        </p:txBody>
      </p:sp>
      <p:sp>
        <p:nvSpPr>
          <p:cNvPr id="23407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Promedio mensual de adopción CXC: 0,85 %</a:t>
            </a:r>
          </a:p>
        </p:txBody>
      </p:sp>
      <p:sp>
        <p:nvSpPr>
          <p:cNvPr id="28607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Uso en capacitación: mide alcance del contacto CXC y ayuda a priorizar clientes con dolor recurrente.</a:t>
            </a:r>
          </a:p>
        </p:txBody>
      </p:sp>
      <p:pic>
        <p:nvPicPr>
          <p:cNvPr id="9007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Estado de tickets</a:t>
            </a:r>
          </a:p>
        </p:txBody>
      </p:sp>
      <p:sp>
        <p:nvSpPr>
          <p:cNvPr id="13008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Distribución por estado operativo CXC.</a:t>
            </a:r>
          </a:p>
        </p:txBody>
      </p:sp>
      <p:pic>
        <p:nvPicPr>
          <p:cNvPr id="9008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Evolución mensual de tickets</a:t>
            </a:r>
          </a:p>
        </p:txBody>
      </p:sp>
      <p:sp>
        <p:nvSpPr>
          <p:cNvPr id="13009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Seguimiento mensual de volumen y desempeño.</a:t>
            </a:r>
          </a:p>
        </p:txBody>
      </p:sp>
      <p:pic>
        <p:nvPicPr>
          <p:cNvPr id="9009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Reclamos que entran y no entran al seguimiento</a:t>
            </a:r>
          </a:p>
        </p:txBody>
      </p:sp>
      <p:sp>
        <p:nvSpPr>
          <p:cNvPr id="13010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Corresponde: 147</a:t>
            </a:r>
          </a:p>
        </p:txBody>
      </p:sp>
      <p:sp>
        <p:nvSpPr>
          <p:cNvPr id="18210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No corresponde: 16</a:t>
            </a:r>
          </a:p>
        </p:txBody>
      </p:sp>
      <p:sp>
        <p:nvSpPr>
          <p:cNvPr id="23410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% corresponde: 90,2 %</a:t>
            </a:r>
          </a:p>
        </p:txBody>
      </p:sp>
      <p:pic>
        <p:nvPicPr>
          <p:cNvPr id="90010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Motivos principales</a:t>
            </a:r>
          </a:p>
        </p:txBody>
      </p:sp>
      <p:sp>
        <p:nvSpPr>
          <p:cNvPr id="13011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Ranking real de motivos según la base CXC.</a:t>
            </a:r>
          </a:p>
        </p:txBody>
      </p:sp>
      <p:pic>
        <p:nvPicPr>
          <p:cNvPr id="90011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Submotivos principales</a:t>
            </a:r>
          </a:p>
        </p:txBody>
      </p:sp>
      <p:sp>
        <p:nvSpPr>
          <p:cNvPr id="13012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Ranking real de submotivos según la base CXC.</a:t>
            </a:r>
          </a:p>
        </p:txBody>
      </p:sp>
      <p:pic>
        <p:nvPicPr>
          <p:cNvPr id="90012" name="Chart"/>
          <p:cNvPicPr/>
          <p:nvPr/>
        </p:nvPicPr>
        <p:blipFill>
          <a:blip r:embed="rId1"/>
          <a:stretch>
            <a:fillRect/>
          </a:stretch>
        </p:blipFill>
        <p:spPr>
          <a:xfrm>
            <a:off x="5200000" y="1500000"/>
            <a:ext cx="60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Clientes críticos marzo, abril y mayo</a:t>
            </a:r>
          </a:p>
        </p:txBody>
      </p:sp>
      <p:sp>
        <p:nvSpPr>
          <p:cNvPr id="13013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Clientes críticos marzo: 26</a:t>
            </a:r>
          </a:p>
        </p:txBody>
      </p:sp>
      <p:sp>
        <p:nvSpPr>
          <p:cNvPr id="18213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Clientes críticos abril: 22</a:t>
            </a:r>
          </a:p>
        </p:txBody>
      </p:sp>
      <p:sp>
        <p:nvSpPr>
          <p:cNvPr id="23413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Clientes críticos mayo: 2</a:t>
            </a:r>
          </a:p>
        </p:txBody>
      </p:sp>
      <p:sp>
        <p:nvSpPr>
          <p:cNvPr id="28613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Mes vigente para planes: Mayo</a:t>
            </a:r>
          </a:p>
        </p:txBody>
      </p:sp>
      <p:sp>
        <p:nvSpPr>
          <p:cNvPr id="33813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Filtro aplicado: Distribuidora del Valle solamente.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Clientes críticos recurrentes</a:t>
            </a:r>
          </a:p>
        </p:txBody>
      </p:sp>
      <p:sp>
        <p:nvSpPr>
          <p:cNvPr id="13014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Recurrentes Abril/Mayo: 0</a:t>
            </a:r>
          </a:p>
        </p:txBody>
      </p:sp>
      <p:sp>
        <p:nvSpPr>
          <p:cNvPr id="18214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Nuevos Mayo: 2</a:t>
            </a:r>
          </a:p>
        </p:txBody>
      </p:sp>
      <p:sp>
        <p:nvSpPr>
          <p:cNvPr id="23414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Recuperados Mayo: 22</a:t>
            </a:r>
          </a:p>
        </p:txBody>
      </p:sp>
      <p:sp>
        <p:nvSpPr>
          <p:cNvPr id="28614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Prioridad alta para recurrentes y nuevos.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Tickets pendientes sin actividad +10 días</a:t>
            </a:r>
          </a:p>
        </p:txBody>
      </p:sp>
      <p:sp>
        <p:nvSpPr>
          <p:cNvPr id="13015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Cantidad: 2</a:t>
            </a:r>
          </a:p>
        </p:txBody>
      </p:sp>
      <p:sp>
        <p:nvSpPr>
          <p:cNvPr id="18215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Criterio: pendiente, más de 10 días desde creación y sin fecha de solución.</a:t>
            </a:r>
          </a:p>
        </p:txBody>
      </p:sp>
      <p:sp>
        <p:nvSpPr>
          <p:cNvPr id="23415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Indicador crítico por riesgo de cierre masivo.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Matriz de riesgo</a:t>
            </a:r>
          </a:p>
        </p:txBody>
      </p:sp>
      <p:sp>
        <p:nvSpPr>
          <p:cNvPr id="13016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Alta: cliente crítico recurrente, ticket pendiente +10 días, pendiente vencido o cliente crítico nuevo.</a:t>
            </a:r>
          </a:p>
        </p:txBody>
      </p:sp>
      <p:sp>
        <p:nvSpPr>
          <p:cNvPr id="18216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Media: cerrado fuera de SLA.</a:t>
            </a:r>
          </a:p>
        </p:txBody>
      </p:sp>
      <p:sp>
        <p:nvSpPr>
          <p:cNvPr id="23416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Baja: cliente recuperado con seguimiento preventivo.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Planes de acción por motivo</a:t>
            </a:r>
          </a:p>
        </p:txBody>
      </p:sp>
      <p:sp>
        <p:nvSpPr>
          <p:cNvPr id="13017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Soporte en relación a un pedido: Alta</a:t>
            </a:r>
          </a:p>
        </p:txBody>
      </p:sp>
      <p:sp>
        <p:nvSpPr>
          <p:cNvPr id="18217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Manejo de Equipo de Frío y Mobiliarios: Alta</a:t>
            </a:r>
          </a:p>
        </p:txBody>
      </p:sp>
      <p:sp>
        <p:nvSpPr>
          <p:cNvPr id="23417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Ayuda con la aplicación: Media</a:t>
            </a:r>
          </a:p>
        </p:txBody>
      </p:sp>
      <p:sp>
        <p:nvSpPr>
          <p:cNvPr id="28617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Experiencia con el servicio de la empresa [BEES]: Alta</a:t>
            </a:r>
          </a:p>
        </p:txBody>
      </p:sp>
      <p:sp>
        <p:nvSpPr>
          <p:cNvPr id="33817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Programa de puntos [BEES]: Alta</a:t>
            </a:r>
          </a:p>
        </p:txBody>
      </p:sp>
      <p:sp>
        <p:nvSpPr>
          <p:cNvPr id="3901700" name="Text"/>
          <p:cNvSpPr/>
          <p:nvPr/>
        </p:nvSpPr>
        <p:spPr>
          <a:xfrm>
            <a:off x="800000" y="3900000"/>
            <a:ext cx="10500000" cy="420000"/>
          </a:xfrm>
        </p:spPr>
        <p:txBody>
          <a:bodyPr/>
          <a:lstStyle/>
          <a:p>
            <a:r>
              <a:rPr lang="es-AR" sz="2200"/>
              <a:t>Marketing y eventos [BEES] [BEES_Force]: Alta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Planes de acción para clientes críticos</a:t>
            </a:r>
          </a:p>
        </p:txBody>
      </p:sp>
      <p:sp>
        <p:nvSpPr>
          <p:cNvPr id="13018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7054900001356 DAMIAN: Alta - Requiere seguimiento</a:t>
            </a:r>
          </a:p>
        </p:txBody>
      </p:sp>
      <p:sp>
        <p:nvSpPr>
          <p:cNvPr id="18218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7054900001356 DAMIAN: Alta - Requiere seguimiento</a:t>
            </a:r>
          </a:p>
        </p:txBody>
      </p:sp>
      <p:sp>
        <p:nvSpPr>
          <p:cNvPr id="23418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7054900005368 AUTOSERVICIO VICTORIA: Alta - Requiere seguimiento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TOP 5 clientes críticos CXC</a:t>
            </a:r>
          </a:p>
        </p:txBody>
      </p:sp>
      <p:sp>
        <p:nvSpPr>
          <p:cNvPr id="13019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7054900001356 DAMIAN: 2 tickets críticos | JDV / SPV | Requiere seguimiento</a:t>
            </a:r>
          </a:p>
        </p:txBody>
      </p:sp>
      <p:sp>
        <p:nvSpPr>
          <p:cNvPr id="18219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7054900005368 AUTOSERVICIO VICTORIA: 1 tickets críticos | JDV / SPV | Requiere seguimiento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Checklist Auditoría 100%</a:t>
            </a:r>
          </a:p>
        </p:txBody>
      </p:sp>
      <p:sp>
        <p:nvSpPr>
          <p:cNvPr id="13020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Capacitación JDV/SPV: Pendiente evidencia</a:t>
            </a:r>
          </a:p>
        </p:txBody>
      </p:sp>
      <p:sp>
        <p:nvSpPr>
          <p:cNvPr id="18220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Rol CXC y canales de contacto: Cubierto en PPT</a:t>
            </a:r>
          </a:p>
        </p:txBody>
      </p:sp>
      <p:sp>
        <p:nvSpPr>
          <p:cNvPr id="23420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Indicadores ON TIME y adopción CXC: Cubierto con datos</a:t>
            </a:r>
          </a:p>
        </p:txBody>
      </p:sp>
      <p:sp>
        <p:nvSpPr>
          <p:cNvPr id="28620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Reclamos que corresponden / no corresponden: Cubierto con datos</a:t>
            </a:r>
          </a:p>
        </p:txBody>
      </p:sp>
      <p:sp>
        <p:nvSpPr>
          <p:cNvPr id="33820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TOP 5 clientes críticos CXC con plan mensual: Cubierto con tabla</a:t>
            </a:r>
          </a:p>
        </p:txBody>
      </p:sp>
      <p:sp>
        <p:nvSpPr>
          <p:cNvPr id="3902000" name="Text"/>
          <p:cNvSpPr/>
          <p:nvPr/>
        </p:nvSpPr>
        <p:spPr>
          <a:xfrm>
            <a:off x="800000" y="3900000"/>
            <a:ext cx="10500000" cy="420000"/>
          </a:xfrm>
        </p:spPr>
        <p:txBody>
          <a:bodyPr/>
          <a:lstStyle/>
          <a:p>
            <a:r>
              <a:rPr lang="es-AR" sz="2200"/>
              <a:t>Tickets pendientes +10 días / cierres masivos: Cubierto con indicador</a:t>
            </a:r>
          </a:p>
        </p:txBody>
      </p:sp>
      <p:sp>
        <p:nvSpPr>
          <p:cNvPr id="4422000" name="Text"/>
          <p:cNvSpPr/>
          <p:nvPr/>
        </p:nvSpPr>
        <p:spPr>
          <a:xfrm>
            <a:off x="800000" y="4420000"/>
            <a:ext cx="10500000" cy="420000"/>
          </a:xfrm>
        </p:spPr>
        <p:txBody>
          <a:bodyPr/>
          <a:lstStyle/>
          <a:p>
            <a:r>
              <a:rPr lang="es-AR" sz="2200"/>
              <a:t>Licencias BEESCARE: Pendiente reporte externo</a:t>
            </a:r>
          </a:p>
        </p:txBody>
      </p:sp>
      <p:sp>
        <p:nvSpPr>
          <p:cNvPr id="4942000" name="Text"/>
          <p:cNvSpPr/>
          <p:nvPr/>
        </p:nvSpPr>
        <p:spPr>
          <a:xfrm>
            <a:off x="800000" y="4940000"/>
            <a:ext cx="10500000" cy="420000"/>
          </a:xfrm>
        </p:spPr>
        <p:txBody>
          <a:bodyPr/>
          <a:lstStyle/>
          <a:p>
            <a:r>
              <a:rPr lang="es-AR" sz="2200"/>
              <a:t>Capturas tablero BEES Care Distribuidores: Pendiente evidencia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Rol de JDV y SPV</a:t>
            </a:r>
          </a:p>
        </p:txBody>
      </p:sp>
      <p:sp>
        <p:nvSpPr>
          <p:cNvPr id="13021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Revisar indicadores y evolución mensual.</a:t>
            </a:r>
          </a:p>
        </p:txBody>
      </p:sp>
      <p:sp>
        <p:nvSpPr>
          <p:cNvPr id="18221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Validar clientes críticos y asignar responsables.</a:t>
            </a:r>
          </a:p>
        </p:txBody>
      </p:sp>
      <p:sp>
        <p:nvSpPr>
          <p:cNvPr id="23421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Asegurar seguimiento de tickets vencidos y +10 días.</a:t>
            </a:r>
          </a:p>
        </p:txBody>
      </p:sp>
      <p:sp>
        <p:nvSpPr>
          <p:cNvPr id="28621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Controlar planes de acción y cierre con cliente.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Validación Nivel 1 GALAXIA</a:t>
            </a:r>
          </a:p>
        </p:txBody>
      </p:sp>
      <p:sp>
        <p:nvSpPr>
          <p:cNvPr id="13022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JDV/SPV conocen rol CXC, ON TIME y alcance mensual.</a:t>
            </a:r>
          </a:p>
        </p:txBody>
      </p:sp>
      <p:sp>
        <p:nvSpPr>
          <p:cNvPr id="1822200" name="Text"/>
          <p:cNvSpPr/>
          <p:nvPr/>
        </p:nvSpPr>
        <p:spPr>
          <a:xfrm>
            <a:off x="800000" y="1820000"/>
            <a:ext cx="10500000" cy="420000"/>
          </a:xfrm>
        </p:spPr>
        <p:txBody>
          <a:bodyPr/>
          <a:lstStyle/>
          <a:p>
            <a:r>
              <a:rPr lang="es-AR" sz="2200"/>
              <a:t>Identifican reclamos que entran/no entran.</a:t>
            </a:r>
          </a:p>
        </p:txBody>
      </p:sp>
      <p:sp>
        <p:nvSpPr>
          <p:cNvPr id="2342200" name="Text"/>
          <p:cNvSpPr/>
          <p:nvPr/>
        </p:nvSpPr>
        <p:spPr>
          <a:xfrm>
            <a:off x="800000" y="2340000"/>
            <a:ext cx="10500000" cy="420000"/>
          </a:xfrm>
        </p:spPr>
        <p:txBody>
          <a:bodyPr/>
          <a:lstStyle/>
          <a:p>
            <a:r>
              <a:rPr lang="es-AR" sz="2200"/>
              <a:t>Identifican clientes críticos, motivos y submotivos.</a:t>
            </a:r>
          </a:p>
        </p:txBody>
      </p:sp>
      <p:sp>
        <p:nvSpPr>
          <p:cNvPr id="2862200" name="Text"/>
          <p:cNvSpPr/>
          <p:nvPr/>
        </p:nvSpPr>
        <p:spPr>
          <a:xfrm>
            <a:off x="800000" y="2860000"/>
            <a:ext cx="10500000" cy="420000"/>
          </a:xfrm>
        </p:spPr>
        <p:txBody>
          <a:bodyPr/>
          <a:lstStyle/>
          <a:p>
            <a:r>
              <a:rPr lang="es-AR" sz="2200"/>
              <a:t>Tienen planes de acción y monitorean tickets +10 días.</a:t>
            </a:r>
          </a:p>
        </p:txBody>
      </p:sp>
      <p:sp>
        <p:nvSpPr>
          <p:cNvPr id="3382200" name="Text"/>
          <p:cNvSpPr/>
          <p:nvPr/>
        </p:nvSpPr>
        <p:spPr>
          <a:xfrm>
            <a:off x="800000" y="3380000"/>
            <a:ext cx="10500000" cy="420000"/>
          </a:xfrm>
        </p:spPr>
        <p:txBody>
          <a:bodyPr/>
          <a:lstStyle/>
          <a:p>
            <a:r>
              <a:rPr lang="es-AR" sz="2200"/>
              <a:t>Resultado: CUMPLE NIVEL 1 — ALCANCE 100%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50000" y="350000"/>
            <a:ext cx="11000000" cy="700000"/>
          </a:xfrm>
        </p:spPr>
        <p:txBody>
          <a:bodyPr/>
          <a:lstStyle/>
          <a:p>
            <a:r>
              <a:rPr lang="es-AR" sz="3400" b="1">
                <a:solidFill>
                  <a:srgbClr val="27357A"/>
                </a:solidFill>
              </a:rPr>
              <a:t>Cierre</a:t>
            </a:r>
          </a:p>
        </p:txBody>
      </p:sp>
      <p:sp>
        <p:nvSpPr>
          <p:cNvPr id="1302300" name="Text"/>
          <p:cNvSpPr/>
          <p:nvPr/>
        </p:nvSpPr>
        <p:spPr>
          <a:xfrm>
            <a:off x="800000" y="1300000"/>
            <a:ext cx="10500000" cy="420000"/>
          </a:xfrm>
        </p:spPr>
        <p:txBody>
          <a:bodyPr/>
          <a:lstStyle/>
          <a:p>
            <a:r>
              <a:rPr lang="es-AR" sz="2200"/>
              <a:t>La gestión CXC permite mejorar la experiencia del cliente, reducir reclamos, evitar clientes críticos y asegurar cumplimiento GALAXIA.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XC">
  <a:themeElements>
    <a:clrScheme name="CXC">
      <a:dk1>
        <a:srgbClr val="172033"/>
      </a:dk1>
      <a:lt1>
        <a:srgbClr val="FFFFFF"/>
      </a:lt1>
      <a:dk2>
        <a:srgbClr val="27357A"/>
      </a:dk2>
      <a:lt2>
        <a:srgbClr val="F6F8FB"/>
      </a:lt2>
      <a:accent1>
        <a:srgbClr val="27357A"/>
      </a:accent1>
      <a:accent2>
        <a:srgbClr val="13996B"/>
      </a:accent2>
      <a:accent3>
        <a:srgbClr val="D99B12"/>
      </a:accent3>
      <a:accent4>
        <a:srgbClr val="C43D3D"/>
      </a:accent4>
      <a:accent5>
        <a:srgbClr val="5B3FD6"/>
      </a:accent5>
      <a:accent6>
        <a:srgbClr val="4361EE"/>
      </a:accent6>
      <a:hlink>
        <a:srgbClr val="4361EE"/>
      </a:hlink>
      <a:folHlink>
        <a:srgbClr val="5B3FD6"/>
      </a:folHlink>
    </a:clrScheme>
    <a:fontScheme name="CXC">
      <a:majorFont>
        <a:latin typeface="Segoe UI"/>
      </a:majorFont>
      <a:minorFont>
        <a:latin typeface="Segoe UI"/>
      </a:minorFont>
    </a:fontScheme>
    <a:fmtScheme name="CX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23</Slides>
  <Company>Distribuidora del Valle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JDV y SPV - Gestión CXC BEESCARE</dc:title>
  <dc:creator>Codex</dc:creator>
  <cp:lastModifiedBy>Codex</cp:lastModifiedBy>
</cp:coreProperties>
</file>